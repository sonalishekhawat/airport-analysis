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Shekhawat" userId="0309683e1721122f" providerId="LiveId" clId="{81579934-A0E3-4E5B-A9C3-621F00061F9F}"/>
    <pc:docChg chg="undo custSel delSld modSld">
      <pc:chgData name="Sonali Shekhawat" userId="0309683e1721122f" providerId="LiveId" clId="{81579934-A0E3-4E5B-A9C3-621F00061F9F}" dt="2026-03-19T10:26:20.831" v="79" actId="20577"/>
      <pc:docMkLst>
        <pc:docMk/>
      </pc:docMkLst>
      <pc:sldChg chg="delSp mod">
        <pc:chgData name="Sonali Shekhawat" userId="0309683e1721122f" providerId="LiveId" clId="{81579934-A0E3-4E5B-A9C3-621F00061F9F}" dt="2026-03-19T10:17:01.135" v="0" actId="478"/>
        <pc:sldMkLst>
          <pc:docMk/>
          <pc:sldMk cId="0" sldId="256"/>
        </pc:sldMkLst>
        <pc:spChg chg="del">
          <ac:chgData name="Sonali Shekhawat" userId="0309683e1721122f" providerId="LiveId" clId="{81579934-A0E3-4E5B-A9C3-621F00061F9F}" dt="2026-03-19T10:17:01.135" v="0" actId="478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26:20.831" v="79" actId="20577"/>
        <pc:sldMkLst>
          <pc:docMk/>
          <pc:sldMk cId="0" sldId="257"/>
        </pc:sldMkLst>
        <pc:spChg chg="mod">
          <ac:chgData name="Sonali Shekhawat" userId="0309683e1721122f" providerId="LiveId" clId="{81579934-A0E3-4E5B-A9C3-621F00061F9F}" dt="2026-03-19T10:17:30.382" v="10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7:23.009" v="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0:54.809" v="24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6:20.831" v="79" actId="20577"/>
          <ac:spMkLst>
            <pc:docMk/>
            <pc:sldMk cId="0" sldId="257"/>
            <ac:spMk id="28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01.036" v="25" actId="478"/>
        <pc:sldMkLst>
          <pc:docMk/>
          <pc:sldMk cId="0" sldId="258"/>
        </pc:sldMkLst>
        <pc:spChg chg="del">
          <ac:chgData name="Sonali Shekhawat" userId="0309683e1721122f" providerId="LiveId" clId="{81579934-A0E3-4E5B-A9C3-621F00061F9F}" dt="2026-03-19T10:17:36.959" v="11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1:01.036" v="25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09.461" v="26" actId="478"/>
        <pc:sldMkLst>
          <pc:docMk/>
          <pc:sldMk cId="0" sldId="259"/>
        </pc:sldMkLst>
        <pc:spChg chg="del">
          <ac:chgData name="Sonali Shekhawat" userId="0309683e1721122f" providerId="LiveId" clId="{81579934-A0E3-4E5B-A9C3-621F00061F9F}" dt="2026-03-19T10:21:09.461" v="26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16.996" v="28" actId="478"/>
        <pc:sldMkLst>
          <pc:docMk/>
          <pc:sldMk cId="0" sldId="260"/>
        </pc:sldMkLst>
        <pc:spChg chg="del">
          <ac:chgData name="Sonali Shekhawat" userId="0309683e1721122f" providerId="LiveId" clId="{81579934-A0E3-4E5B-A9C3-621F00061F9F}" dt="2026-03-19T10:17:59.077" v="12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1:16.996" v="28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1:15.541" v="27" actId="478"/>
          <ac:spMkLst>
            <pc:docMk/>
            <pc:sldMk cId="0" sldId="260"/>
            <ac:spMk id="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22.654" v="29" actId="478"/>
        <pc:sldMkLst>
          <pc:docMk/>
          <pc:sldMk cId="0" sldId="261"/>
        </pc:sldMkLst>
        <pc:spChg chg="del">
          <ac:chgData name="Sonali Shekhawat" userId="0309683e1721122f" providerId="LiveId" clId="{81579934-A0E3-4E5B-A9C3-621F00061F9F}" dt="2026-03-19T10:18:15.819" v="13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1:22.654" v="29" actId="478"/>
          <ac:spMkLst>
            <pc:docMk/>
            <pc:sldMk cId="0" sldId="261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28.051" v="30" actId="478"/>
        <pc:sldMkLst>
          <pc:docMk/>
          <pc:sldMk cId="0" sldId="262"/>
        </pc:sldMkLst>
        <pc:spChg chg="del">
          <ac:chgData name="Sonali Shekhawat" userId="0309683e1721122f" providerId="LiveId" clId="{81579934-A0E3-4E5B-A9C3-621F00061F9F}" dt="2026-03-19T10:21:28.051" v="30" actId="478"/>
          <ac:spMkLst>
            <pc:docMk/>
            <pc:sldMk cId="0" sldId="262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45.218" v="31" actId="478"/>
        <pc:sldMkLst>
          <pc:docMk/>
          <pc:sldMk cId="0" sldId="263"/>
        </pc:sldMkLst>
        <pc:spChg chg="del">
          <ac:chgData name="Sonali Shekhawat" userId="0309683e1721122f" providerId="LiveId" clId="{81579934-A0E3-4E5B-A9C3-621F00061F9F}" dt="2026-03-19T10:21:45.218" v="31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1:50.645" v="32" actId="478"/>
        <pc:sldMkLst>
          <pc:docMk/>
          <pc:sldMk cId="0" sldId="264"/>
        </pc:sldMkLst>
        <pc:spChg chg="del">
          <ac:chgData name="Sonali Shekhawat" userId="0309683e1721122f" providerId="LiveId" clId="{81579934-A0E3-4E5B-A9C3-621F00061F9F}" dt="2026-03-19T10:21:50.645" v="32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00.222" v="34" actId="478"/>
        <pc:sldMkLst>
          <pc:docMk/>
          <pc:sldMk cId="0" sldId="265"/>
        </pc:sldMkLst>
        <pc:spChg chg="del">
          <ac:chgData name="Sonali Shekhawat" userId="0309683e1721122f" providerId="LiveId" clId="{81579934-A0E3-4E5B-A9C3-621F00061F9F}" dt="2026-03-19T10:22:00.222" v="34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1:58.439" v="33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8:45.476" v="14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8:45.476" v="14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8:45.476" v="14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8:45.476" v="14" actId="478"/>
          <ac:spMkLst>
            <pc:docMk/>
            <pc:sldMk cId="0" sldId="265"/>
            <ac:spMk id="2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22:20.062" v="35" actId="478"/>
        <pc:sldMkLst>
          <pc:docMk/>
          <pc:sldMk cId="0" sldId="266"/>
        </pc:sldMkLst>
        <pc:spChg chg="del">
          <ac:chgData name="Sonali Shekhawat" userId="0309683e1721122f" providerId="LiveId" clId="{81579934-A0E3-4E5B-A9C3-621F00061F9F}" dt="2026-03-19T10:22:20.062" v="35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06.833" v="15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06.833" v="15" actId="478"/>
          <ac:spMkLst>
            <pc:docMk/>
            <pc:sldMk cId="0" sldId="266"/>
            <ac:spMk id="2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06.833" v="15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06.833" v="15" actId="478"/>
          <ac:spMkLst>
            <pc:docMk/>
            <pc:sldMk cId="0" sldId="266"/>
            <ac:spMk id="2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06.833" v="15" actId="478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9:18.419" v="16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9:18.419" v="16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9:21.400" v="18" actId="20577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9:18.419" v="16" actId="107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9:18.419" v="16" actId="1076"/>
          <ac:spMkLst>
            <pc:docMk/>
            <pc:sldMk cId="0" sldId="266"/>
            <ac:spMk id="32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24.472" v="36" actId="478"/>
        <pc:sldMkLst>
          <pc:docMk/>
          <pc:sldMk cId="0" sldId="267"/>
        </pc:sldMkLst>
        <pc:spChg chg="del">
          <ac:chgData name="Sonali Shekhawat" userId="0309683e1721122f" providerId="LiveId" clId="{81579934-A0E3-4E5B-A9C3-621F00061F9F}" dt="2026-03-19T10:22:24.472" v="36" actId="478"/>
          <ac:spMkLst>
            <pc:docMk/>
            <pc:sldMk cId="0" sldId="267"/>
            <ac:spMk id="6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22:30.458" v="37" actId="478"/>
        <pc:sldMkLst>
          <pc:docMk/>
          <pc:sldMk cId="0" sldId="268"/>
        </pc:sldMkLst>
        <pc:spChg chg="del">
          <ac:chgData name="Sonali Shekhawat" userId="0309683e1721122f" providerId="LiveId" clId="{81579934-A0E3-4E5B-A9C3-621F00061F9F}" dt="2026-03-19T10:22:30.458" v="37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31.501" v="22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31.501" v="22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31.501" v="22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31.501" v="22" actId="1076"/>
          <ac:spMkLst>
            <pc:docMk/>
            <pc:sldMk cId="0" sldId="268"/>
            <ac:spMk id="1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57.224" v="20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55.701" v="19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55.701" v="19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9:55.701" v="19" actId="478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14.253" v="21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14.253" v="21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14.253" v="21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0:14.253" v="21" actId="1076"/>
          <ac:spMkLst>
            <pc:docMk/>
            <pc:sldMk cId="0" sldId="268"/>
            <ac:spMk id="2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0:42.784" v="23" actId="478"/>
        <pc:sldMkLst>
          <pc:docMk/>
          <pc:sldMk cId="0" sldId="269"/>
        </pc:sldMkLst>
        <pc:spChg chg="del">
          <ac:chgData name="Sonali Shekhawat" userId="0309683e1721122f" providerId="LiveId" clId="{81579934-A0E3-4E5B-A9C3-621F00061F9F}" dt="2026-03-19T10:20:42.784" v="23" actId="478"/>
          <ac:spMkLst>
            <pc:docMk/>
            <pc:sldMk cId="0" sldId="269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39.524" v="38" actId="478"/>
        <pc:sldMkLst>
          <pc:docMk/>
          <pc:sldMk cId="0" sldId="270"/>
        </pc:sldMkLst>
        <pc:spChg chg="del">
          <ac:chgData name="Sonali Shekhawat" userId="0309683e1721122f" providerId="LiveId" clId="{81579934-A0E3-4E5B-A9C3-621F00061F9F}" dt="2026-03-19T10:22:39.524" v="38" actId="478"/>
          <ac:spMkLst>
            <pc:docMk/>
            <pc:sldMk cId="0" sldId="270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50.389" v="39" actId="478"/>
        <pc:sldMkLst>
          <pc:docMk/>
          <pc:sldMk cId="0" sldId="271"/>
        </pc:sldMkLst>
        <pc:spChg chg="del">
          <ac:chgData name="Sonali Shekhawat" userId="0309683e1721122f" providerId="LiveId" clId="{81579934-A0E3-4E5B-A9C3-621F00061F9F}" dt="2026-03-19T10:22:50.389" v="39" actId="478"/>
          <ac:spMkLst>
            <pc:docMk/>
            <pc:sldMk cId="0" sldId="271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53.575" v="40" actId="478"/>
        <pc:sldMkLst>
          <pc:docMk/>
          <pc:sldMk cId="0" sldId="272"/>
        </pc:sldMkLst>
        <pc:spChg chg="del">
          <ac:chgData name="Sonali Shekhawat" userId="0309683e1721122f" providerId="LiveId" clId="{81579934-A0E3-4E5B-A9C3-621F00061F9F}" dt="2026-03-19T10:22:53.575" v="40" actId="478"/>
          <ac:spMkLst>
            <pc:docMk/>
            <pc:sldMk cId="0" sldId="272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2:59.284" v="42" actId="478"/>
        <pc:sldMkLst>
          <pc:docMk/>
          <pc:sldMk cId="0" sldId="273"/>
        </pc:sldMkLst>
        <pc:spChg chg="del">
          <ac:chgData name="Sonali Shekhawat" userId="0309683e1721122f" providerId="LiveId" clId="{81579934-A0E3-4E5B-A9C3-621F00061F9F}" dt="2026-03-19T10:22:59.284" v="42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2:57.708" v="41" actId="478"/>
          <ac:spMkLst>
            <pc:docMk/>
            <pc:sldMk cId="0" sldId="273"/>
            <ac:spMk id="7" creationId="{00000000-0000-0000-0000-000000000000}"/>
          </ac:spMkLst>
        </pc:spChg>
      </pc:sldChg>
      <pc:sldChg chg="del">
        <pc:chgData name="Sonali Shekhawat" userId="0309683e1721122f" providerId="LiveId" clId="{81579934-A0E3-4E5B-A9C3-621F00061F9F}" dt="2026-03-19T10:23:05.141" v="43" actId="2696"/>
        <pc:sldMkLst>
          <pc:docMk/>
          <pc:sldMk cId="0" sldId="274"/>
        </pc:sldMkLst>
      </pc:sldChg>
      <pc:sldChg chg="delSp mod">
        <pc:chgData name="Sonali Shekhawat" userId="0309683e1721122f" providerId="LiveId" clId="{81579934-A0E3-4E5B-A9C3-621F00061F9F}" dt="2026-03-19T10:23:10.967" v="44" actId="478"/>
        <pc:sldMkLst>
          <pc:docMk/>
          <pc:sldMk cId="0" sldId="275"/>
        </pc:sldMkLst>
        <pc:spChg chg="del">
          <ac:chgData name="Sonali Shekhawat" userId="0309683e1721122f" providerId="LiveId" clId="{81579934-A0E3-4E5B-A9C3-621F00061F9F}" dt="2026-03-19T10:23:10.967" v="44" actId="478"/>
          <ac:spMkLst>
            <pc:docMk/>
            <pc:sldMk cId="0" sldId="275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3:22.562" v="45" actId="478"/>
        <pc:sldMkLst>
          <pc:docMk/>
          <pc:sldMk cId="0" sldId="276"/>
        </pc:sldMkLst>
        <pc:spChg chg="del">
          <ac:chgData name="Sonali Shekhawat" userId="0309683e1721122f" providerId="LiveId" clId="{81579934-A0E3-4E5B-A9C3-621F00061F9F}" dt="2026-03-19T10:23:22.562" v="45" actId="478"/>
          <ac:spMkLst>
            <pc:docMk/>
            <pc:sldMk cId="0" sldId="276"/>
            <ac:spMk id="6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24:19.993" v="55" actId="14100"/>
        <pc:sldMkLst>
          <pc:docMk/>
          <pc:sldMk cId="0" sldId="277"/>
        </pc:sldMkLst>
        <pc:spChg chg="del">
          <ac:chgData name="Sonali Shekhawat" userId="0309683e1721122f" providerId="LiveId" clId="{81579934-A0E3-4E5B-A9C3-621F00061F9F}" dt="2026-03-19T10:23:49.244" v="50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16.161" v="54" actId="478"/>
          <ac:spMkLst>
            <pc:docMk/>
            <pc:sldMk cId="0" sldId="277"/>
            <ac:spMk id="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4:19.993" v="55" actId="14100"/>
          <ac:spMkLst>
            <pc:docMk/>
            <pc:sldMk cId="0" sldId="277"/>
            <ac:spMk id="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4:08.330" v="53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4:08.330" v="53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4:08.330" v="53" actId="1076"/>
          <ac:spMkLst>
            <pc:docMk/>
            <pc:sldMk cId="0" sldId="277"/>
            <ac:spMk id="12" creationId="{00000000-0000-0000-0000-000000000000}"/>
          </ac:spMkLst>
        </pc:spChg>
        <pc:picChg chg="mod">
          <ac:chgData name="Sonali Shekhawat" userId="0309683e1721122f" providerId="LiveId" clId="{81579934-A0E3-4E5B-A9C3-621F00061F9F}" dt="2026-03-19T10:23:55.881" v="52" actId="14100"/>
          <ac:picMkLst>
            <pc:docMk/>
            <pc:sldMk cId="0" sldId="277"/>
            <ac:picMk id="8" creationId="{00000000-0000-0000-0000-000000000000}"/>
          </ac:picMkLst>
        </pc:picChg>
      </pc:sldChg>
      <pc:sldChg chg="delSp mod">
        <pc:chgData name="Sonali Shekhawat" userId="0309683e1721122f" providerId="LiveId" clId="{81579934-A0E3-4E5B-A9C3-621F00061F9F}" dt="2026-03-19T10:24:56.341" v="60" actId="478"/>
        <pc:sldMkLst>
          <pc:docMk/>
          <pc:sldMk cId="0" sldId="278"/>
        </pc:sldMkLst>
        <pc:spChg chg="del">
          <ac:chgData name="Sonali Shekhawat" userId="0309683e1721122f" providerId="LiveId" clId="{81579934-A0E3-4E5B-A9C3-621F00061F9F}" dt="2026-03-19T10:24:52.052" v="59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56.341" v="60" actId="478"/>
          <ac:spMkLst>
            <pc:docMk/>
            <pc:sldMk cId="0" sldId="278"/>
            <ac:spMk id="7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25:22.108" v="63" actId="1076"/>
        <pc:sldMkLst>
          <pc:docMk/>
          <pc:sldMk cId="0" sldId="279"/>
        </pc:sldMkLst>
        <pc:spChg chg="mod">
          <ac:chgData name="Sonali Shekhawat" userId="0309683e1721122f" providerId="LiveId" clId="{81579934-A0E3-4E5B-A9C3-621F00061F9F}" dt="2026-03-19T10:24:41.641" v="57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4:47.223" v="58" actId="20577"/>
          <ac:spMkLst>
            <pc:docMk/>
            <pc:sldMk cId="0" sldId="279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5:03.303" v="61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5:05.336" v="62" actId="478"/>
          <ac:spMkLst>
            <pc:docMk/>
            <pc:sldMk cId="0" sldId="279"/>
            <ac:spMk id="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5:22.108" v="63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5:22.108" v="63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5:22.108" v="63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25:22.108" v="63" actId="1076"/>
          <ac:spMkLst>
            <pc:docMk/>
            <pc:sldMk cId="0" sldId="279"/>
            <ac:spMk id="1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39.495" v="56" actId="478"/>
          <ac:spMkLst>
            <pc:docMk/>
            <pc:sldMk cId="0" sldId="279"/>
            <ac:spMk id="1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39.495" v="56" actId="478"/>
          <ac:spMkLst>
            <pc:docMk/>
            <pc:sldMk cId="0" sldId="279"/>
            <ac:spMk id="1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39.495" v="56" actId="478"/>
          <ac:spMkLst>
            <pc:docMk/>
            <pc:sldMk cId="0" sldId="279"/>
            <ac:spMk id="1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4:39.495" v="56" actId="478"/>
          <ac:spMkLst>
            <pc:docMk/>
            <pc:sldMk cId="0" sldId="279"/>
            <ac:spMk id="1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5:45.628" v="65" actId="478"/>
        <pc:sldMkLst>
          <pc:docMk/>
          <pc:sldMk cId="0" sldId="280"/>
        </pc:sldMkLst>
        <pc:spChg chg="del">
          <ac:chgData name="Sonali Shekhawat" userId="0309683e1721122f" providerId="LiveId" clId="{81579934-A0E3-4E5B-A9C3-621F00061F9F}" dt="2026-03-19T10:25:45.628" v="65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5:44.093" v="64" actId="478"/>
          <ac:spMkLst>
            <pc:docMk/>
            <pc:sldMk cId="0" sldId="280"/>
            <ac:spMk id="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5:52.331" v="67" actId="478"/>
        <pc:sldMkLst>
          <pc:docMk/>
          <pc:sldMk cId="0" sldId="281"/>
        </pc:sldMkLst>
        <pc:spChg chg="del">
          <ac:chgData name="Sonali Shekhawat" userId="0309683e1721122f" providerId="LiveId" clId="{81579934-A0E3-4E5B-A9C3-621F00061F9F}" dt="2026-03-19T10:25:52.331" v="67" actId="478"/>
          <ac:spMkLst>
            <pc:docMk/>
            <pc:sldMk cId="0" sldId="281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25:50.193" v="66" actId="478"/>
          <ac:spMkLst>
            <pc:docMk/>
            <pc:sldMk cId="0" sldId="281"/>
            <ac:spMk id="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5:56.982" v="68" actId="478"/>
        <pc:sldMkLst>
          <pc:docMk/>
          <pc:sldMk cId="0" sldId="282"/>
        </pc:sldMkLst>
        <pc:spChg chg="del">
          <ac:chgData name="Sonali Shekhawat" userId="0309683e1721122f" providerId="LiveId" clId="{81579934-A0E3-4E5B-A9C3-621F00061F9F}" dt="2026-03-19T10:25:56.982" v="68" actId="478"/>
          <ac:spMkLst>
            <pc:docMk/>
            <pc:sldMk cId="0" sldId="282"/>
            <ac:spMk id="1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26:03.801" v="69" actId="478"/>
        <pc:sldMkLst>
          <pc:docMk/>
          <pc:sldMk cId="0" sldId="283"/>
        </pc:sldMkLst>
        <pc:spChg chg="del">
          <ac:chgData name="Sonali Shekhawat" userId="0309683e1721122f" providerId="LiveId" clId="{81579934-A0E3-4E5B-A9C3-621F00061F9F}" dt="2026-03-19T10:26:03.801" v="69" actId="478"/>
          <ac:spMkLst>
            <pc:docMk/>
            <pc:sldMk cId="0" sldId="283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Flight Count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6B-4147-96FD-F163A170A8BB}"/>
              </c:ext>
            </c:extLst>
          </c:dPt>
          <c:dPt>
            <c:idx val="1"/>
            <c:invertIfNegative val="0"/>
            <c:bubble3D val="0"/>
            <c:spPr>
              <a:solidFill>
                <a:srgbClr val="0D6E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6B-4147-96FD-F163A170A8BB}"/>
              </c:ext>
            </c:extLst>
          </c:dPt>
          <c:dPt>
            <c:idx val="2"/>
            <c:invertIfNegative val="0"/>
            <c:bubble3D val="0"/>
            <c:spPr>
              <a:solidFill>
                <a:srgbClr val="15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6B-4147-96FD-F163A170A8BB}"/>
              </c:ext>
            </c:extLst>
          </c:dPt>
          <c:dPt>
            <c:idx val="3"/>
            <c:invertIfNegative val="0"/>
            <c:bubble3D val="0"/>
            <c:spPr>
              <a:solidFill>
                <a:srgbClr val="1C82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6B-4147-96FD-F163A170A8BB}"/>
              </c:ext>
            </c:extLst>
          </c:dPt>
          <c:dPt>
            <c:idx val="4"/>
            <c:invertIfNegative val="0"/>
            <c:bubble3D val="0"/>
            <c:spPr>
              <a:solidFill>
                <a:srgbClr val="249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6B-4147-96FD-F163A170A8BB}"/>
              </c:ext>
            </c:extLst>
          </c:dPt>
          <c:dPt>
            <c:idx val="5"/>
            <c:invertIfNegative val="0"/>
            <c:bubble3D val="0"/>
            <c:spPr>
              <a:solidFill>
                <a:srgbClr val="2B9E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6B-4147-96FD-F163A170A8BB}"/>
              </c:ext>
            </c:extLst>
          </c:dPt>
          <c:dPt>
            <c:idx val="6"/>
            <c:invertIfNegative val="0"/>
            <c:bubble3D val="0"/>
            <c:spPr>
              <a:solidFill>
                <a:srgbClr val="32A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6B-4147-96FD-F163A170A8BB}"/>
              </c:ext>
            </c:extLst>
          </c:dPt>
          <c:dPt>
            <c:idx val="7"/>
            <c:invertIfNegative val="0"/>
            <c:bubble3D val="0"/>
            <c:spPr>
              <a:solidFill>
                <a:srgbClr val="3BB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6B-4147-96FD-F163A170A8BB}"/>
              </c:ext>
            </c:extLst>
          </c:dPt>
          <c:dPt>
            <c:idx val="8"/>
            <c:invertIfNegative val="0"/>
            <c:bubble3D val="0"/>
            <c:spPr>
              <a:solidFill>
                <a:srgbClr val="44C5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6B-4147-96FD-F163A170A8BB}"/>
              </c:ext>
            </c:extLst>
          </c:dPt>
          <c:dPt>
            <c:idx val="9"/>
            <c:invertIfNegative val="0"/>
            <c:bubble3D val="0"/>
            <c:spPr>
              <a:solidFill>
                <a:srgbClr val="4DD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E6B-4147-96FD-F163A170A8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LAX</c:v>
                </c:pt>
                <c:pt idx="1">
                  <c:v>JFK</c:v>
                </c:pt>
                <c:pt idx="2">
                  <c:v>SEA</c:v>
                </c:pt>
                <c:pt idx="3">
                  <c:v>LAS</c:v>
                </c:pt>
                <c:pt idx="4">
                  <c:v>ORD</c:v>
                </c:pt>
                <c:pt idx="5">
                  <c:v>SAN</c:v>
                </c:pt>
                <c:pt idx="6">
                  <c:v>PDX</c:v>
                </c:pt>
                <c:pt idx="7">
                  <c:v>EWR</c:v>
                </c:pt>
                <c:pt idx="8">
                  <c:v>SLC</c:v>
                </c:pt>
                <c:pt idx="9">
                  <c:v>BOS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7968</c:v>
                </c:pt>
                <c:pt idx="1">
                  <c:v>4700</c:v>
                </c:pt>
                <c:pt idx="2">
                  <c:v>4309</c:v>
                </c:pt>
                <c:pt idx="3">
                  <c:v>3609</c:v>
                </c:pt>
                <c:pt idx="4">
                  <c:v>3523</c:v>
                </c:pt>
                <c:pt idx="5">
                  <c:v>3169</c:v>
                </c:pt>
                <c:pt idx="6">
                  <c:v>2786</c:v>
                </c:pt>
                <c:pt idx="7">
                  <c:v>2418</c:v>
                </c:pt>
                <c:pt idx="8">
                  <c:v>2370</c:v>
                </c:pt>
                <c:pt idx="9">
                  <c:v>2232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E6B-4147-96FD-F163A170A8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Flights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Mar 4</c:v>
                </c:pt>
                <c:pt idx="1">
                  <c:v>Mar 5</c:v>
                </c:pt>
                <c:pt idx="2">
                  <c:v>Mar 6</c:v>
                </c:pt>
                <c:pt idx="3">
                  <c:v>Mar 7</c:v>
                </c:pt>
                <c:pt idx="4">
                  <c:v>Mar 8</c:v>
                </c:pt>
                <c:pt idx="5">
                  <c:v>Mar 9</c:v>
                </c:pt>
                <c:pt idx="6">
                  <c:v>Mar 10</c:v>
                </c:pt>
                <c:pt idx="7">
                  <c:v>Mar 11</c:v>
                </c:pt>
                <c:pt idx="8">
                  <c:v>Mar 12</c:v>
                </c:pt>
                <c:pt idx="9">
                  <c:v>Mar 13</c:v>
                </c:pt>
                <c:pt idx="10">
                  <c:v>Mar 14</c:v>
                </c:pt>
                <c:pt idx="11">
                  <c:v>Mar 15</c:v>
                </c:pt>
                <c:pt idx="12">
                  <c:v>Mar 16</c:v>
                </c:pt>
                <c:pt idx="13">
                  <c:v>Mar 17</c:v>
                </c:pt>
                <c:pt idx="14">
                  <c:v>Mar 18</c:v>
                </c:pt>
                <c:pt idx="15">
                  <c:v>Mar 19</c:v>
                </c:pt>
                <c:pt idx="16">
                  <c:v>Mar 20</c:v>
                </c:pt>
                <c:pt idx="17">
                  <c:v>Mar 21</c:v>
                </c:pt>
                <c:pt idx="18">
                  <c:v>Mar 22</c:v>
                </c:pt>
                <c:pt idx="19">
                  <c:v>Mar 23</c:v>
                </c:pt>
                <c:pt idx="20">
                  <c:v>Mar 24</c:v>
                </c:pt>
                <c:pt idx="21">
                  <c:v>Mar 25</c:v>
                </c:pt>
                <c:pt idx="22">
                  <c:v>Mar 26</c:v>
                </c:pt>
                <c:pt idx="23">
                  <c:v>Mar 27</c:v>
                </c:pt>
                <c:pt idx="24">
                  <c:v>Mar 28</c:v>
                </c:pt>
                <c:pt idx="25">
                  <c:v>Mar 29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3170</c:v>
                </c:pt>
                <c:pt idx="1">
                  <c:v>3060</c:v>
                </c:pt>
                <c:pt idx="2">
                  <c:v>3120</c:v>
                </c:pt>
                <c:pt idx="3">
                  <c:v>3030</c:v>
                </c:pt>
                <c:pt idx="4">
                  <c:v>3050</c:v>
                </c:pt>
                <c:pt idx="5">
                  <c:v>3070</c:v>
                </c:pt>
                <c:pt idx="6">
                  <c:v>3120</c:v>
                </c:pt>
                <c:pt idx="7">
                  <c:v>3070</c:v>
                </c:pt>
                <c:pt idx="8">
                  <c:v>3220</c:v>
                </c:pt>
                <c:pt idx="9">
                  <c:v>3080</c:v>
                </c:pt>
                <c:pt idx="10">
                  <c:v>3070</c:v>
                </c:pt>
                <c:pt idx="11">
                  <c:v>3140</c:v>
                </c:pt>
                <c:pt idx="12">
                  <c:v>3130</c:v>
                </c:pt>
                <c:pt idx="13">
                  <c:v>2930</c:v>
                </c:pt>
                <c:pt idx="14">
                  <c:v>3000</c:v>
                </c:pt>
                <c:pt idx="15">
                  <c:v>2820</c:v>
                </c:pt>
                <c:pt idx="16">
                  <c:v>2820</c:v>
                </c:pt>
                <c:pt idx="17">
                  <c:v>2540</c:v>
                </c:pt>
                <c:pt idx="18">
                  <c:v>2160</c:v>
                </c:pt>
                <c:pt idx="19">
                  <c:v>2720</c:v>
                </c:pt>
                <c:pt idx="20">
                  <c:v>2540</c:v>
                </c:pt>
                <c:pt idx="21">
                  <c:v>1970</c:v>
                </c:pt>
                <c:pt idx="22">
                  <c:v>2090</c:v>
                </c:pt>
                <c:pt idx="23">
                  <c:v>2120</c:v>
                </c:pt>
                <c:pt idx="24">
                  <c:v>2290</c:v>
                </c:pt>
                <c:pt idx="25">
                  <c:v>2210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FAF-4114-8FE0-CF33F57B28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0"/>
          <c:min val="15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Route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E8-426C-A67E-0B94859D0A57}"/>
              </c:ext>
            </c:extLst>
          </c:dPt>
          <c:dPt>
            <c:idx val="1"/>
            <c:bubble3D val="0"/>
            <c:spPr>
              <a:solidFill>
                <a:srgbClr val="0083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E8-426C-A67E-0B94859D0A57}"/>
              </c:ext>
            </c:extLst>
          </c:dPt>
          <c:dPt>
            <c:idx val="2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E8-426C-A67E-0B94859D0A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E8-426C-A67E-0B94859D0A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E8-426C-A67E-0B94859D0A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E8-426C-A67E-0B94859D0A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Domestic High-Volume
(LAX, JFK, SEA, LAS, ORD...)</c:v>
                </c:pt>
                <c:pt idx="1">
                  <c:v>Nearest Routes
(MMH, RNO, SBP, FAT...)</c:v>
                </c:pt>
                <c:pt idx="2">
                  <c:v>International Long-Haul
(BLR, SIN, DXB, MEL...)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30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E8-426C-A67E-0B94859D0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Daily Flights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Mar 4</c:v>
                </c:pt>
                <c:pt idx="1">
                  <c:v>Mar 7</c:v>
                </c:pt>
                <c:pt idx="2">
                  <c:v>Mar 10</c:v>
                </c:pt>
                <c:pt idx="3">
                  <c:v>Mar 13</c:v>
                </c:pt>
                <c:pt idx="4">
                  <c:v>Mar 16</c:v>
                </c:pt>
                <c:pt idx="5">
                  <c:v>Mar 19</c:v>
                </c:pt>
                <c:pt idx="6">
                  <c:v>Mar 22</c:v>
                </c:pt>
                <c:pt idx="7">
                  <c:v>Mar 25</c:v>
                </c:pt>
                <c:pt idx="8">
                  <c:v>Mar 29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3170</c:v>
                </c:pt>
                <c:pt idx="1">
                  <c:v>3030</c:v>
                </c:pt>
                <c:pt idx="2">
                  <c:v>3120</c:v>
                </c:pt>
                <c:pt idx="3">
                  <c:v>3080</c:v>
                </c:pt>
                <c:pt idx="4">
                  <c:v>3000</c:v>
                </c:pt>
                <c:pt idx="5">
                  <c:v>2820</c:v>
                </c:pt>
                <c:pt idx="6">
                  <c:v>2160</c:v>
                </c:pt>
                <c:pt idx="7">
                  <c:v>1970</c:v>
                </c:pt>
                <c:pt idx="8">
                  <c:v>2210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0C1-4637-8982-7809879C6A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(Pre-disruption avg)</c:v>
                </c:pt>
              </c:strCache>
            </c:strRef>
          </c:tx>
          <c:spPr>
            <a:ln w="31750" cap="flat">
              <a:solidFill>
                <a:srgbClr val="FFB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Mar 4</c:v>
                </c:pt>
                <c:pt idx="1">
                  <c:v>Mar 7</c:v>
                </c:pt>
                <c:pt idx="2">
                  <c:v>Mar 10</c:v>
                </c:pt>
                <c:pt idx="3">
                  <c:v>Mar 13</c:v>
                </c:pt>
                <c:pt idx="4">
                  <c:v>Mar 16</c:v>
                </c:pt>
                <c:pt idx="5">
                  <c:v>Mar 19</c:v>
                </c:pt>
                <c:pt idx="6">
                  <c:v>Mar 22</c:v>
                </c:pt>
                <c:pt idx="7">
                  <c:v>Mar 25</c:v>
                </c:pt>
                <c:pt idx="8">
                  <c:v>Mar 29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3100</c:v>
                </c:pt>
                <c:pt idx="1">
                  <c:v>3100</c:v>
                </c:pt>
                <c:pt idx="2">
                  <c:v>3100</c:v>
                </c:pt>
                <c:pt idx="3">
                  <c:v>3100</c:v>
                </c:pt>
                <c:pt idx="4">
                  <c:v>3100</c:v>
                </c:pt>
                <c:pt idx="5">
                  <c:v>3100</c:v>
                </c:pt>
                <c:pt idx="6">
                  <c:v>3100</c:v>
                </c:pt>
                <c:pt idx="7">
                  <c:v>3100</c:v>
                </c:pt>
                <c:pt idx="8">
                  <c:v>3100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0C1-4637-8982-7809879C6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0"/>
          <c:min val="15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Longest Routes — Distance (K mi)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Long-Haul Routes (Max Distance K mi)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BLR</c:v>
                </c:pt>
                <c:pt idx="1">
                  <c:v>SIN</c:v>
                </c:pt>
                <c:pt idx="2">
                  <c:v>DXB</c:v>
                </c:pt>
                <c:pt idx="3">
                  <c:v>MEL</c:v>
                </c:pt>
                <c:pt idx="4">
                  <c:v>DEL</c:v>
                </c:pt>
                <c:pt idx="5">
                  <c:v>TLV</c:v>
                </c:pt>
                <c:pt idx="6">
                  <c:v>SYD</c:v>
                </c:pt>
                <c:pt idx="7">
                  <c:v>BNE</c:v>
                </c:pt>
                <c:pt idx="8">
                  <c:v>MNL</c:v>
                </c:pt>
                <c:pt idx="9">
                  <c:v>HKG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13.7</c:v>
                </c:pt>
                <c:pt idx="1">
                  <c:v>8.6</c:v>
                </c:pt>
                <c:pt idx="2">
                  <c:v>8.1999999999999993</c:v>
                </c:pt>
                <c:pt idx="3">
                  <c:v>9.1</c:v>
                </c:pt>
                <c:pt idx="4">
                  <c:v>12.3</c:v>
                </c:pt>
                <c:pt idx="5">
                  <c:v>11.4</c:v>
                </c:pt>
                <c:pt idx="6">
                  <c:v>11.5</c:v>
                </c:pt>
                <c:pt idx="7">
                  <c:v>9.3000000000000007</c:v>
                </c:pt>
                <c:pt idx="8">
                  <c:v>7.2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F0-4223-8139-0A42B641D2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Nearest Routes — Flight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Nearest Routes (Flight Count)</c:v>
                </c:pt>
              </c:strCache>
            </c:strRef>
          </c:tx>
          <c:spPr>
            <a:solidFill>
              <a:srgbClr val="0083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MMH</c:v>
                </c:pt>
                <c:pt idx="1">
                  <c:v>RNO</c:v>
                </c:pt>
                <c:pt idx="2">
                  <c:v>FAT</c:v>
                </c:pt>
                <c:pt idx="3">
                  <c:v>SBP</c:v>
                </c:pt>
                <c:pt idx="4">
                  <c:v>SMF</c:v>
                </c:pt>
                <c:pt idx="5">
                  <c:v>MRY</c:v>
                </c:pt>
                <c:pt idx="6">
                  <c:v>STS</c:v>
                </c:pt>
                <c:pt idx="7">
                  <c:v>SCK</c:v>
                </c:pt>
                <c:pt idx="8">
                  <c:v>SJC</c:v>
                </c:pt>
                <c:pt idx="9">
                  <c:v>SFO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17153</c:v>
                </c:pt>
                <c:pt idx="1">
                  <c:v>306038</c:v>
                </c:pt>
                <c:pt idx="2">
                  <c:v>204509</c:v>
                </c:pt>
                <c:pt idx="3">
                  <c:v>112710</c:v>
                </c:pt>
                <c:pt idx="4">
                  <c:v>140133</c:v>
                </c:pt>
                <c:pt idx="5">
                  <c:v>49974</c:v>
                </c:pt>
                <c:pt idx="6">
                  <c:v>11151</c:v>
                </c:pt>
                <c:pt idx="7">
                  <c:v>103</c:v>
                </c:pt>
                <c:pt idx="8">
                  <c:v>48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C-43E3-9DE3-08FF7580FC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091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3A6B">
              <a:alpha val="70000"/>
            </a:srgbClr>
          </a:solidFill>
          <a:ln w="12700">
            <a:solidFill>
              <a:srgbClr val="0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0838F">
              <a:alpha val="6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B300"/>
                </a:solidFill>
              </a:rPr>
              <a:t>BUSINESS INTELLIGENCE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SFO Airport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ADCFC"/>
                </a:solidFill>
              </a:rPr>
              <a:t>Analysis Dashboard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572000" cy="3657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</a:rPr>
              <a:t>Flight Operations  |  Route Analytics  |  March 2020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2377440"/>
            <a:ext cx="1280160" cy="73152"/>
          </a:xfrm>
          <a:prstGeom prst="rect">
            <a:avLst/>
          </a:prstGeom>
          <a:solidFill>
            <a:srgbClr val="00838F">
              <a:alpha val="80000"/>
            </a:srgbClr>
          </a:solidFill>
          <a:ln w="12700">
            <a:solidFill>
              <a:srgbClr val="00838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987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Introduction &amp; Domain Overview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1399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Problem Statement &amp; Objectives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Dataset Overview &amp; Data Summary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2221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Data Understanding &amp; Cleaning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2633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Data Transformation &amp; Tools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987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Business Questions &amp; EDA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137160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1399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Charts &amp; Visual Analysis 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78308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Dashboard Explanation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219456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2221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Insights, Recommendations &amp; Conclusion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384048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2633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Future Scope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14400"/>
            <a:ext cx="402336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50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9844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San Francisco International Airport (SFO) is one of the busiest airports on the US West Coast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This project analyzes SFO flight operations data for March 2020 — a pivotal month during the onset of the COVID-19 pandemic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The dataset captures route information, flight counts, distances, and daily trends across all destinations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914400"/>
            <a:ext cx="43891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509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&amp; Importance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29844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Aviation data provides key operational intelligence for route planning, resource allocation, and demand forecasting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March 2020 saw an unprecedented disruption in air travel globally due to pandemic-related travel restrictions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Understanding these patterns is critical for strategic recovery and future resilience planning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85953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083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Analysis Matters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355848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Identify operational patterns to support efficient scheduling and fleet management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Benchmark domestic vs. international route performance to guide investment decisions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Provide a data-driven foundation for post-disruption recovery strategies at SFO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Domain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Aviation Industry &amp; Key Concepts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73152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✈  Aviation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science of extracting actionable intelligence from flight operations, passenger data, and route performance to optimize airline and airport efficiency.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202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920240"/>
            <a:ext cx="73152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🛫  Route Classification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Routes are categorized by distance: Short-Haul (&lt;500 mi), Medium-Haul (500–3000 mi), and Long-Haul (&gt;3000 mi) — each with distinct economics and demand drivers.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73152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📊  Flight Count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9718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number of flights operated on a route within a period. High counts signal demand; low counts may indicate seasonal or operational factors.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40480"/>
            <a:ext cx="73152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🌐  Hub Airport Dynamics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9319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SFO functions as a major hub, connecting domestic feeder routes to international long-haul services — making it sensitive to both local and global disruptions.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859536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How can SFO leverage operational flight data to understand route performance, detect demand disruptions, and make informed decisions about resource allocation and route strategy?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03120"/>
            <a:ext cx="41605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⚠  Lack of Visibility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514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No consolidated view of route performance across domestic and international segments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103120"/>
            <a:ext cx="41605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⚠  Demand Volatility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2514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Sudden external shocks (e.g., COVID-19) cause unpredictable drops in daily flight volumes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337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337560"/>
            <a:ext cx="41605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⚠  Distance-Demand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749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Long-haul routes carry fewer flights but serve strategic importance — often overlooked in aggregate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337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3337560"/>
            <a:ext cx="41605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⚠  Short-Route Underutilization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1728" y="3749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Nearest destinations show high variability in flight counts, suggesting scheduling inefficiencies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Goal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554480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Provide SFO stakeholders with a clear picture of flight route performance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Enable data-driven decisions on route prioritization and resource allocation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Quantify the operational impact of the COVID-19 disruption on daily flight volumes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960120"/>
            <a:ext cx="274320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85032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Goal (Expected Outcome)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554480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An interactive dashboard summarizing route distances, flight counts, and daily trends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Identification of top-performing and underserved routes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 trend analysis capturing the March 2020 demand decline with clear magnitude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96012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92824" y="1051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Analytical Goal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53912" y="1554480"/>
            <a:ext cx="252374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Explore distributions and correlations in route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Apply segmentation to classify routes by distance and volume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Build visual narratives that make complex patterns accessible to non-technical stakeholders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Source, Structure &amp; Key Variables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19202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33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SFO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581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Origin Airport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960120"/>
            <a:ext cx="192024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33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Mar 2020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581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Time Period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960120"/>
            <a:ext cx="19202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33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100K+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1581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Total 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033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20840" y="1581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Key Metrics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148840"/>
          <a:ext cx="8595360" cy="24323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 airport code (SFO)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airport IATA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flight distance in miles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flights on the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operation date (March 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or International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Statistical Overview &amp; Distribution Insights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96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Flight Count Statistics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344168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Maximum (LAX): 7,968 flights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Minimum (SFO–SFO): 0 flights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Top Domestic Route: LAX — 7,968 flights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Top Intl Route: BLR (Bangalore) — highest among long-haul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Nearest Route Leader: MMH — 17,153 flights (includes codeshares)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Daily Average (early March): ~3,100 flights/day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Daily Average (late March): ~2,100 flights/day (↓ ~32%)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60120"/>
            <a:ext cx="420624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96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Distance Statistics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344168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Shortest Distance (SJC): ~48 miles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Longest Distance (BLR): ~13,700+ miles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Nearest route cluster: &lt; 350 miles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Long-haul threshold: &gt; 5,000 miles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International routes: BLR, SIN, DXB, MEL, DEL, TLV, SYD, BNE, MNL, HKG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Domestic high-volume routes: LAX, JFK, SEA, LAS, ORD, SAN, PDX, EWR, SLC, BOS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Average daily flight decline in second half of March: gradual then steep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</a:rPr>
              <a:t>Data covers all active routes from SFO in March 2020, including both scheduled and operated flights across domestic and international segments.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Understanding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Column Explanations &amp; Variable Relationships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64008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33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DEST (Destination)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IATA 3-letter code of the destination airport. Used to identify routes and classify as domestic or international.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764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764792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37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MAX. DISTANCE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856232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maximum great-circle distance in miles between SFO and the destination. Used to rank longest and nearest routes.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5694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569464"/>
            <a:ext cx="64008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42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FLIGHT 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66090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total number of flights operated on a specific route during the analysis period. Core KPI for demand measurement.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3741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374136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47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DATE (Day of March 2020)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465576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specific calendar date. Enables time-series analysis to detect daily patterns and sudden volume changes.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178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4178808"/>
            <a:ext cx="64008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51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ROUTE CATEGORY (Derived)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427024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Derived classification: 'Nearest' (&lt; 350 mi) vs. 'Long-Haul' (&gt; 5,000 mi) vs. 'Mid-Range'. Enables segment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Cleaning —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Why Cleaning Is Essential Before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59536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</a:rPr>
              <a:t>Raw data is rarely analysis-ready. Without proper cleaning, insights derived from the data may be misleading, incomplete, or structurally flawed — leading to incorrect business decisions.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01168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Missing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957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Null or blank entries in flight counts or dates can distort averages and totals — must be imputed or removed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01168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🔁  Duplicate Records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23957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Duplicate flight entries can inflate route counts and skew frequency comparisons across destinations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337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33756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74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🔢  Data Type Errors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7216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Dates stored as text or numeric values can prevent time-series analysis; must be cast to proper date format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Cleaning —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Systematic Process to Ensure Data Quality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502920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97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033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Handle Missing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Identified null entries in FLIGHT_COUNT and DISTANCE columns. Rows with missing destinations were removed; missing counts were imputed with route-level medians.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764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764792"/>
            <a:ext cx="502920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019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1837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8562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Duplicate flight records with identical DEST, DATE, and DISTANCE combinations were detected and eliminated to prevent double-counting.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5694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69464"/>
            <a:ext cx="502920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7066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642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Data Type Corrections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6609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DATE column was converted from string/text to proper date format. DISTANCE and FLIGHT_COUNT were confirmed as numeric (integer/float) fields.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3741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374136"/>
            <a:ext cx="502920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5112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Standardization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4655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Airport codes were standardized to uppercase 3-letter IATA format. Route categories (Nearest/Long-Haul) were derived and validated for 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Transformation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Derived Fields, Aggregations &amp; Calculated 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96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Columns Created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344168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ROUTE_CATEGORY — Classifies routes as 'Nearest', 'Medium', or 'Long-Haul' based on distance thresholds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WEEK_SEGMENT — Groups dates into early, mid, and late March for trend segmentation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INTL_FLAG — Boolean indicator: 1 = International destination, 0 = Domestic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DIST_BAND — Binned distance bands (0–350, 350–2000, 2000–5000, 5000+ miles)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CUMULATIVE_FLIGHTS — Running total of flights per route over the month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60120"/>
            <a:ext cx="420624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96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Calculated Fields (Tableau)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34416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MAX([DISTANCE]) — Used for longest and nearest route charts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COUNT([FLIGHT_ID]) — Aggregated to flight count per route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DATEPART('day', [DATE]) — Extracts day number for time-axis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26080"/>
            <a:ext cx="42062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962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Aggregations Applied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31012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SUM of flights by destination for overall count chart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Daily COUNT of flights across all routes for trend 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MIN distance per destination for nearest-route ranking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MAX distance per destination for longest-route ranking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Tools &amp; Technologies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Technology Stack for Data Processing &amp; Visualization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1033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</a:rPr>
              <a:t>Microsoft Excel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136245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Primary data source format (.xlsx). Used for initial data review, basic aggregations, and statistical summary calculations.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267712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</a:rPr>
              <a:t>Tableau Desktop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Main BI and visualization platform. Used to build the SFO Airport Analysis Dashboard (.twb file), including all four quadrant charts.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267712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0368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</a:rPr>
              <a:t>Tableau Calculated Fields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267004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Custom calculations for route classification, distance ranking (MIN/MAX), and date-based day-wise aggregations.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986849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81728" y="10325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30368" y="1060001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</a:rPr>
              <a:t>Data Definitions (TWB)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30368" y="1389185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The .twb file defines all data connections, field aliases, calculated dimensions, and dashboard layout parameters.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Questions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Key Analytical Questions Driving the Study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502920" cy="8778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16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051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Which destinations from SFO have the longest maximum flight distances, and how do their flight counts compare to short-haul routes?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502920" cy="8778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16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1051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What is the day-wise trend in total flight counts for March 2020, and at what point did a significant decline begin?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975104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975104"/>
            <a:ext cx="502920" cy="87782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31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06654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Which are the nearest airports to SFO, and which of these short-haul routes carries the highest flight volume?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75104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975104"/>
            <a:ext cx="502920" cy="87782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231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06654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Which domestic destinations have the highest overall flight frequency from SFO, and by how much does LAX lead the next competitor?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90088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90088"/>
            <a:ext cx="502920" cy="8778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46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0815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How does the distribution of flight counts differ between international long-haul and domestic short-haul routes?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990088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990088"/>
            <a:ext cx="502920" cy="8778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246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30815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What is the estimated percentage decline in daily flights between early March and the end of the month?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005072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4005072"/>
            <a:ext cx="502920" cy="87782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61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40965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Is there a correlation between route distance and flight count — do longer routes inherently carry fewer flights?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005072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4005072"/>
            <a:ext cx="502920" cy="87782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261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40965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Which route categories (nearest vs. long-haul) should be prioritized for post-disruption recovery resource allocation?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 (EDA)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Initial Trends, Observations &amp; Patterns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859536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966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Preliminary Observations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344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The dataset shows bimodal distribution: high-frequency short-haul routes vs. low-frequency ultra-long-haul international routes — reflecting SFO's hub role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20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920240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842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Route Volume 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2677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LAX dominates with 7,968 flights (3.6× more than the 3rd-ranked destination). Top 10 destinations account for ~55% of total flights.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920240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842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Long-Haul Cluster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2677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Top 10 longest routes span 8,000–14,000 miles. Flight counts are modest (1K–3K) reflecting limited but high-yield capacity.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0779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07792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March Trend Breakdown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2552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Stable volume Mar 4–14 (~3.0K–3.3K/day). Sharp inflection point around Mar 17–19. By Mar 29, daily count fell to 2.21K — a ~29% drop.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90779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07792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71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Nearest Routes Variability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2552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Nearest destinations show high count disparity: MMH (17K) vs. SJC (48) — suggesting code-share or charter route distortions.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89534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895344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593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Distance–Count Relationship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2428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Inverse relationship: longer distance = fewer flights. However, nearest routes show non-linear behavior due to feeder traffic patterns.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89534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895344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593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International vs. Domestic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2428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All top 10 flight-count routes are domestic. International routes rank lower in volume but higher in revenue-per-seat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1 — Bar Chart: Flight Count by Destination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Top 10 Destinations from SFO by Total Flights (March 2020)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16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960120"/>
          <a:ext cx="62179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960120"/>
            <a:ext cx="2286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960120"/>
            <a:ext cx="228600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996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1344168"/>
            <a:ext cx="21031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LAX leads with 7,968 flights — nearly 70% more than runner-up JFK (4,700)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Top 3 (LAX, JFK, SEA) account for ~45% of all high-frequency route traffic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BOS rounds out top 10 at 2,232 — showing consistent cross-country demand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All top 10 routes are domestic, confirming SFO's strong US network depth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2 — Line Chart: Day-Wise Flight Count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Daily Flight Volume Trend Across March 2020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17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960120"/>
          <a:ext cx="62179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960120"/>
            <a:ext cx="2286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960120"/>
            <a:ext cx="228600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996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1344168"/>
            <a:ext cx="21031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Stable plateau of ~3.0K–3.2K flights from Mar 4–14 (pre-disruption phase)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Sharp inflection begins around Mar 17–19 — coinciding with COVID-19 lockdown announcements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Lowest daily count: ~1.97K on Mar 25 — a 38% drop from peak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End-of-month recovery to 2.21K suggests partial rescheduling, not full recovery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The trend line clearly visualizes aviation demand collapse in real time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3 — Pie Chart: Route Category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Proportion of Flights by Route Type (Nearest, Medium, Long-Haul)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31520" y="1005840"/>
          <a:ext cx="5303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96012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960120"/>
            <a:ext cx="265176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996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1344168"/>
            <a:ext cx="2468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Domestic High-Volume routes dominate at ~58% of all traffic — SFO's bread and butter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Nearest Routes contribute ~30%, driven by regional connectors like RNO and FAT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International Long-Haul represents only ~12% of volume but carries disproportionately higher revenue per seat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Route mix reflects a typical US West Coast hub: heavy domestic core, selective international reach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5 — Trend Analysis: COVID-19 Impact on Flights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Annotated Decline in Daily Flights — March 2020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20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960120"/>
          <a:ext cx="62179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960120"/>
            <a:ext cx="2286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960120"/>
            <a:ext cx="228600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996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1344168"/>
            <a:ext cx="21031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Baseline: ~3,100 flights/day (Mar 4–14 average)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First significant dip: Mar 17 — COVID-19 travel advisories issued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Peak gap from baseline: ~1,130 fewer flights/day (Mar 25)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Gap represents ~36% demand destruction in under 2 weeks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Recovery began slightly at month-end, but remained far below baseline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This pattern mirrors global aviation collapse seen at other major US hubs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6 — Comparative Analysis: Longest vs. Nearest Routes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Flight Counts Across Route Distance Extremes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21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960120"/>
          <a:ext cx="41605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0" y="960120"/>
          <a:ext cx="4343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22860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</a:rPr>
              <a:t>Insight: International long-haul routes cover extreme distances but carry moderate flight volumes, while nearest-route counts show remarkable variability suggesting non-distance factors (charters, codeshares) at play.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SFO Airport Analysis — Tableau Dashboard Layout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994586"/>
            <a:ext cx="6583680" cy="40486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22592" y="994409"/>
            <a:ext cx="1920240" cy="40486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22592" y="994410"/>
            <a:ext cx="192024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4032" y="103098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Layout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14032" y="1378458"/>
            <a:ext cx="1737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Top-Left: Longest Route bar chart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Top-Right: Day-Wise flight count line chart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Bottom-Left: Nearest Route bar chart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Bottom-Right: Overall flight count bar chart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All four panels share consistent color scheme and interactive filter capability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KPIs &amp; Key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Understanding the Core Measures and Their Business Significance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19202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607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7,968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Peak Route Flights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(LAX — Top Domestic)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987552"/>
            <a:ext cx="192024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607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~3.1K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Avg Daily Flights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(Early March)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987552"/>
            <a:ext cx="19202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607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~2.1K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Avg Daily Flights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(Late March)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987552"/>
            <a:ext cx="19202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0607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13,700+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20840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Max Route Distance mi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(SFO → BLR)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94560"/>
            <a:ext cx="416052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Longest Route Panel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2596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Horizontal bar chart showing top 10 furthest destinations. X-axis = Max Distance (miles). Bars colored by flight segment (dark teal = highest distance). Shows BLR as the farthest at ~13,700 miles.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945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94560"/>
            <a:ext cx="416052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Day Wise Flight Count Panel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2596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Dual-line time-series chart (teal + green series) tracking daily flight totals across March. Clearly shows the inflection point and steep decline from March 17 onwards.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6118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611880"/>
            <a:ext cx="41605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Nearest Route Panel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" y="401421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Horizontal bar chart of closest destinations. X-axis = Max Distance (0–340 miles). Labels show associated flight counts, revealing RNO (306K) as the busiest near route.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6118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611880"/>
            <a:ext cx="41605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Flight Count (Overall) Panel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63440" y="401421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Horizontal bar chart of all destinations ranked by flight count. LAX leads at 7,968; the top 10 all exceed 2,200 flights — confirming high-demand domestic corridor concentration.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Filters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How to Navigate and Extract Value from the 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97864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97864"/>
            <a:ext cx="4160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Capabilities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Flight Count Filter (Fligh..=): Allows filtering destinations by a specific flight count range — useful for isolating high or low volume routes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Sort Toggle (≠): Enables ascending/descending sort on chart axes for quick top/bottom route identification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Date Range Filter: Isolate specific weeks in March 2020 to compare early-month vs. late-month performance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Destination Filter: Click any bar in the Flight Count chart to cross-filter all four dashboard panels simultaneously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</a:rPr>
              <a:t>Hover Tooltips: Hovering over any data point reveals exact flight count, date, and distance values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Top Findings from the SFO Airport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50292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0332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LAX is SFO's Dominant Route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13624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LAX commands 7,968 flights — 69% more than JFK (4,700). It is the single most critical domestic route for SFO operationally and commercially.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60120"/>
            <a:ext cx="50292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93792" y="10332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COVID-19 Caused a 38% Demand Collapse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93792" y="13624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Daily flights peaked at ~3.2K in early March and bottomed at 1.97K by March 25 — a 36–38% fall triggered by pandemic travel restrictions announced mid-month.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331720"/>
            <a:ext cx="502920" cy="1234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2404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SFO's Top 10 Routes Are All Domestic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27340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Despite serving major international hubs (BLR, SIN, DXB), all ten highest-frequency routes are US domestic, confirming that domestic connectivity is SFO's primary operational engine.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331720"/>
            <a:ext cx="502920" cy="1234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24048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International Routes Are Low-Volume but Strategically Critical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27340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Long-haul routes (8K–14K miles) each carry 1K–3K flights — low in volume but high in strategic value as premium revenue generators for airlines.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703320"/>
            <a:ext cx="50292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" y="37764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Nearest Routes Show High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" y="41056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RNO leads nearest routes with ~306K in count metric, while SJC registers only 48 — extreme variability suggesting scheduling inconsistency or data including multi-year aggregates.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703320"/>
            <a:ext cx="50292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93792" y="37764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Inverse Distance–Volume Relationship Confirmed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93792" y="4105656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The scatter plot confirms that higher route distance correlates with lower flight frequency — a fundamental aviation economic principle validated in SFO's operational data.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Actionable, Data-Driven Business Suggestions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Build Route Resilience Plans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3533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Develop demand-shock contingency playbooks for Top 10 domestic routes. LAX, JFK, and SEA should have pre-approved frequency reduction protocols to minimize losses during future disruptions.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416052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✈️  Protect &amp; Grow Long-Haul International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3533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Despite low volume, international routes to BLR, SIN, and DXB carry high yield. Prioritize these for slot protection and capacity maintenance even during demand downturns.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3172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Implement Real-Time Daily Monitoring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27249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Operationalize the Day-Wise chart as a live dashboard trigger: alerts when daily flights drop &gt;10% below a 7-day rolling average should initiate revenue management review.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3317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33172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Review Short-Haul Scheduling Efficiency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7249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High variability in nearest-route counts (RNO vs. SJC) suggests uneven frequency deployment. A capacity audit for routes under 350 miles can optimize gate utilization and turnaround efficiency.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033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7033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Route Portfolio Rebalancing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" y="40965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Post-disruption recovery should weight investment toward high-count domestic corridors first (LAX, JFK, SEA), followed by staged international restoration based on demand signals.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703320"/>
            <a:ext cx="41605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7033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Expand the Dashboard to Real-Time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81728" y="40965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Migrate from static .xlsx source to a live data connection (e.g., BTS or OAG feed) to enable forward-looking route analytics rather than retrospective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3A6B">
              <a:alpha val="80000"/>
            </a:srgbClr>
          </a:solidFill>
          <a:ln w="12700">
            <a:solidFill>
              <a:srgbClr val="0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200400" cy="3657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36576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881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SFO Airport Analysis reveals a clearly bifurcated route ecosystem: a high-frequency domestic core anchored by LAX and a strategic but low-volume international network serving Asia-Pacific and the Middle East.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36576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56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March 2020 serves as a critical case study in demand fragility — the dataset captures the precise moment when aviation faced its most severe modern disruption, with a 38% daily flight decline in under two weeks.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36576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243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four-panel Tableau dashboard effectively condenses complex operational data into an accessible decision-support tool, enabling stakeholders to simultaneously evaluate distance, volume, and temporal trends.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36576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924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analysis confirms that distance and flight count follow an inverse relationship, validating fundamental aviation economics — but also reveals that near-route variability demands separate operational treatment.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36576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1605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Armed with these insights, SFO airport planners, airline partners, and policy teams can make more resilient, evidence-based decisions on route strategy, capacity deployment, and crisis response protocols.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38F"/>
                </a:solidFill>
              </a:rPr>
              <a:t>Opportunities for Enhanced Analysis &amp; Deeper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97433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</a:rPr>
              <a:t>SFO Airport Analysis  |  March 2020  |  Slide 28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Real-Time Data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3533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Connect the dashboard to live BTS (Bureau of Transportation Statistics) or OAG feeds for continuous monitoring instead of static monthly snapshots.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Predictive Demand Modeling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3533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Apply time-series forecasting (ARIMA, Prophet) to predict daily flight counts 7–30 days ahead — enabling proactive staffing and gate allocation at SFO.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3172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💺  Passenger &amp; Revenue Overlay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27249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Integrate passenger load factors and ticket revenue data to shift from flight-count analysis to revenue-per-route optimization — the true commercial metric.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3317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 Competitor Route Benchmarking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7249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Expand scope to compare SFO route performance against LAX, SJC, and OAK — identifying where SFO gains or loses competitive market share.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703320"/>
            <a:ext cx="416052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🛫  Post-COVID Recovery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" y="40965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Extend the dataset through 2021–2023 to track the full recovery trajectory and measure which route categories returned fastest to pre-pandemic levels.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7033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Automated Alert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81728" y="409651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Build a Python or Tableau Prep-based pipeline that automatically flags anomalous day-wise drops and emails route managers with contextual alerts.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3552</Words>
  <Application>Microsoft Office PowerPoint</Application>
  <PresentationFormat>On-screen Show (16:9)</PresentationFormat>
  <Paragraphs>399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SFO Airport Analysis</dc:title>
  <dc:subject>PptxGenJS Presentation</dc:subject>
  <dc:creator>Senior Data Analyst</dc:creator>
  <cp:lastModifiedBy>Sonali Shekhawat</cp:lastModifiedBy>
  <cp:revision>2</cp:revision>
  <dcterms:created xsi:type="dcterms:W3CDTF">2026-03-18T17:28:08Z</dcterms:created>
  <dcterms:modified xsi:type="dcterms:W3CDTF">2026-03-19T10:26:22Z</dcterms:modified>
</cp:coreProperties>
</file>